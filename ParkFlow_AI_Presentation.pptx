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00B4D8"/>
                </a:solidFill>
                <a:latin typeface="Outfit"/>
              </a:defRPr>
            </a:pPr>
            <a:r>
              <a:t>FLIPKART GRIDLOCK HACKATHON 2.0</a:t>
            </a:r>
          </a:p>
          <a:p>
            <a:pPr>
              <a:spcAft>
                <a:spcPts val="1000"/>
              </a:spcAft>
              <a:defRPr sz="5400" b="1">
                <a:solidFill>
                  <a:srgbClr val="F8FAFC"/>
                </a:solidFill>
                <a:latin typeface="Outfit"/>
              </a:defRPr>
            </a:pPr>
            <a:r>
              <a:t>ParkFlow AI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Intelligent Parking Congestion Management</a:t>
            </a:r>
            <a:br/>
            <a:r>
              <a:t>ML Traffic Predictions meets Smart Dispatch Operations.</a:t>
            </a:r>
          </a:p>
          <a:p>
            <a:pPr>
              <a:defRPr sz="1400" b="1">
                <a:solidFill>
                  <a:srgbClr val="4ADE80"/>
                </a:solidFill>
                <a:latin typeface="Outfit"/>
              </a:defRPr>
            </a:pPr>
            <a:r>
              <a:t>Developed by: Harshwardhan Bhaskar</a:t>
            </a:r>
            <a:br/>
            <a:r>
              <a:t>Team: HB Technologies (Solo Participant)</a:t>
            </a:r>
          </a:p>
        </p:txBody>
      </p:sp>
      <p:pic>
        <p:nvPicPr>
          <p:cNvPr id="3" name="Picture 2" descr="smart_city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Gridlock Challenge: Reactive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Urban Congestion Bottlenecks: </a:t>
            </a:r>
            <a:r>
              <a:rPr sz="1600">
                <a:solidFill>
                  <a:srgbClr val="94A3B8"/>
                </a:solidFill>
                <a:latin typeface="Outfit"/>
              </a:rPr>
              <a:t>Illegal parking in dense corridors block lanes, reducing road capacity by up to 65% and creating severe cascading traffic gridlocks.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Blind Random Patrols: </a:t>
            </a:r>
            <a:r>
              <a:rPr sz="1600">
                <a:solidFill>
                  <a:srgbClr val="94A3B8"/>
                </a:solidFill>
                <a:latin typeface="Outfit"/>
              </a:rPr>
              <a:t>Municipal enforcement squads and tow-trucks patrol randomly, relying on guesswork rather than priority or traffic sensitivity data.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Resource Disconnection: </a:t>
            </a:r>
            <a:r>
              <a:rPr sz="1600">
                <a:solidFill>
                  <a:srgbClr val="94A3B8"/>
                </a:solidFill>
                <a:latin typeface="Outfit"/>
              </a:rPr>
              <a:t>Highly accurate predictive traffic modeling exists, but is completely disconnected from real-time municipal dispatcher platforms.</a:t>
            </a:r>
          </a:p>
        </p:txBody>
      </p:sp>
      <p:pic>
        <p:nvPicPr>
          <p:cNvPr id="5" name="Picture 4" descr="urban_congestion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ParkFlow AI: End-to-End Predictive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D8"/>
                </a:solidFill>
              </a:defRPr>
            </a:pPr>
            <a:r>
              <a:t>1. Predictive ML Engine</a:t>
            </a:r>
            <a:br/>
            <a:br/>
            <a:r>
              <a:rPr sz="1400">
                <a:solidFill>
                  <a:srgbClr val="94A3B8"/>
                </a:solidFill>
              </a:rPr>
              <a:t>Combines LightGBM, XGBoost, and CatBoost ensemble. Dynamically forecasts spatiotemporal traffic demand for any geohash coordinate based on cyclic time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</a:defRPr>
            </a:pPr>
            <a:r>
              <a:t>2. Bottleneck Engine</a:t>
            </a:r>
            <a:br/>
            <a:br/>
            <a:r>
              <a:rPr sz="1400">
                <a:solidFill>
                  <a:srgbClr val="94A3B8"/>
                </a:solidFill>
              </a:rPr>
              <a:t>Custom formulas evaluate congestion drag (CDI) caused by double-parked vehicles and compute dynamic targeted enforcement priority (TEP) scores for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D8"/>
                </a:solidFill>
              </a:defRPr>
            </a:pPr>
            <a:r>
              <a:t>3. Actionable UI Dashboard</a:t>
            </a:r>
            <a:br/>
            <a:br/>
            <a:r>
              <a:rPr sz="1400">
                <a:solidFill>
                  <a:srgbClr val="94A3B8"/>
                </a:solidFill>
              </a:rPr>
              <a:t>Interactive Leaflet mapping, auto-ranked priority dispatch list for enforcement officers, and an instant What-If congestion clearing simulator.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Phase 1 ML Architecture: Blended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Blended Regressor Ensemble: </a:t>
            </a:r>
            <a:r>
              <a:rPr sz="1600">
                <a:solidFill>
                  <a:srgbClr val="94A3B8"/>
                </a:solidFill>
                <a:latin typeface="Outfit"/>
              </a:rPr>
              <a:t>Built a powerful blend of LightGBM, XGBoost, and CatBoost. Blending optimized weights to achieve robust spatiotemporal generalizability.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Cyclic Temporal Features: </a:t>
            </a:r>
            <a:r>
              <a:rPr sz="1600">
                <a:solidFill>
                  <a:srgbClr val="94A3B8"/>
                </a:solidFill>
                <a:latin typeface="Outfit"/>
              </a:rPr>
              <a:t>Encoded continuous time boundaries. Applied sine/cosine transformations on hour of day and day of week to preserve continuous temporal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Spatial Feature Clustering: </a:t>
            </a:r>
            <a:r>
              <a:rPr sz="1600">
                <a:solidFill>
                  <a:srgbClr val="94A3B8"/>
                </a:solidFill>
                <a:latin typeface="Outfit"/>
              </a:rPr>
              <a:t>Decoded 9-character spatial geohashes to precise latitude/longitude coordinates and grouped coordinates using K-Means clustering (K=15) to map regional densities.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Target Baseline Encoding: </a:t>
            </a:r>
            <a:r>
              <a:rPr sz="1600">
                <a:solidFill>
                  <a:srgbClr val="94A3B8"/>
                </a:solidFill>
                <a:latin typeface="Outfit"/>
              </a:rPr>
              <a:t>Computed out-of-fold historical baseline demand per geohash/temporal bucket to provide baseline benchmarks without introducing data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Congestion Impact Formulas &amp; Economic Loss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D8"/>
                </a:solidFill>
              </a:defRPr>
            </a:pPr>
            <a:r>
              <a:t>Congestion Drag Index</a:t>
            </a:r>
            <a:br/>
            <a:r>
              <a:t>(CDI)</a:t>
            </a:r>
            <a:br/>
            <a:br/>
            <a:r>
              <a:rPr sz="1400">
                <a:solidFill>
                  <a:srgbClr val="94A3B8"/>
                </a:solidFill>
              </a:rPr>
              <a:t>CDI = predicted_demand / remaining_capacity
* Where remaining_capacity decreases by 7% per double-parked vehicle (up to a max reduction of 65%).
* Highlights road corridors that are approaching severe traffic saturation.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</a:defRPr>
            </a:pPr>
            <a:r>
              <a:t>Enforcement Priority</a:t>
            </a:r>
            <a:br/>
            <a:r>
              <a:t>(TEP)</a:t>
            </a:r>
            <a:br/>
            <a:br/>
            <a:r>
              <a:rPr sz="1400">
                <a:solidFill>
                  <a:srgbClr val="94A3B8"/>
                </a:solidFill>
              </a:rPr>
              <a:t>TEP = violation_count * CDI
* Ranks active hotspots by both physical violations and the road's congestion index.
* Enables dispatchers to target tow-trucks to corridors where they will relieve the most traffic drag.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D8"/>
                </a:solidFill>
              </a:defRPr>
            </a:pPr>
            <a:r>
              <a:t>Economic Loss</a:t>
            </a:r>
            <a:br/>
            <a:r>
              <a:t>(Rupees)</a:t>
            </a:r>
            <a:br/>
            <a:br/>
            <a:r>
              <a:rPr sz="1400">
                <a:solidFill>
                  <a:srgbClr val="94A3B8"/>
                </a:solidFill>
              </a:rPr>
              <a:t>Loss = delay_minutes * affected_vehicles * hourly_rate
* Estimates financial commuter drain.
* Assumes ₹300 per hour commuter time-value and 400 affected vehicles per hour. Translates physical traffic blockages into clear, understandable economic figures (₹).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Operational Dashboard: Map &amp; Priority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Dynamic Leaflet Mapping: </a:t>
            </a:r>
            <a:r>
              <a:rPr sz="1600">
                <a:solidFill>
                  <a:srgbClr val="94A3B8"/>
                </a:solidFill>
                <a:latin typeface="Outfit"/>
              </a:rPr>
              <a:t>Renders coordinates in Bengaluru. Color-coded markers (Red = High Congestion, Yellow = Moderate, Green = Low) reveal spatial parking hotspot clusters.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Auto-Ranked Dispatch: </a:t>
            </a:r>
            <a:r>
              <a:rPr sz="1600">
                <a:solidFill>
                  <a:srgbClr val="94A3B8"/>
                </a:solidFill>
                <a:latin typeface="Outfit"/>
              </a:rPr>
              <a:t>Left sidebar lists hotspots in descending order of their TEP score, showing officers exactly where to deploy for maximum congestion relief.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Diurnal Analytics Chart: </a:t>
            </a:r>
            <a:r>
              <a:rPr sz="1600">
                <a:solidFill>
                  <a:srgbClr val="94A3B8"/>
                </a:solidFill>
                <a:latin typeface="Outfit"/>
              </a:rPr>
              <a:t>Displays city-wide traffic demand patterns to schedule patrol rosters efficiently.</a:t>
            </a:r>
          </a:p>
        </p:txBody>
      </p:sp>
      <p:pic>
        <p:nvPicPr>
          <p:cNvPr id="5" name="Picture 4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6634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What-If Congestion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Simulate Vehicle Clearing: </a:t>
            </a:r>
            <a:r>
              <a:rPr sz="1600">
                <a:solidFill>
                  <a:srgbClr val="94A3B8"/>
                </a:solidFill>
                <a:latin typeface="Outfit"/>
              </a:rPr>
              <a:t>Allows operators to slide from 0 to maximum parked vehicles to simulate active traffic enforcement actions.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Instant Financial Feedback: </a:t>
            </a:r>
            <a:r>
              <a:rPr sz="1600">
                <a:solidFill>
                  <a:srgbClr val="94A3B8"/>
                </a:solidFill>
                <a:latin typeface="Outfit"/>
              </a:rPr>
              <a:t>Recalculates in real-time the capacity restored, delay minutes saved, and the total commuter economic savings (₹) achieved.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Corridor Demand Analytics: </a:t>
            </a:r>
            <a:r>
              <a:rPr sz="1600">
                <a:solidFill>
                  <a:srgbClr val="94A3B8"/>
                </a:solidFill>
                <a:latin typeface="Outfit"/>
              </a:rPr>
              <a:t>Includes detailed Chart.js visual showing the selected location's violation history alongside the city average demand curve.</a:t>
            </a:r>
          </a:p>
        </p:txBody>
      </p:sp>
      <p:pic>
        <p:nvPicPr>
          <p:cNvPr id="5" name="Picture 4" descr="location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6634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Outfit"/>
              </a:defRPr>
            </a:pPr>
            <a:r>
              <a:t>PARKFLOW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Business Value &amp; Future Scaling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Commuter Travel Savings: </a:t>
            </a:r>
            <a:r>
              <a:rPr sz="1600">
                <a:solidFill>
                  <a:srgbClr val="94A3B8"/>
                </a:solidFill>
                <a:latin typeface="Outfit"/>
              </a:rPr>
              <a:t>Reduces travel delays, carbon emissions, and fuel burn in dense urban bottlenecks by maximizing road capacity.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Enforcement Cost Relief: </a:t>
            </a:r>
            <a:r>
              <a:rPr sz="1600">
                <a:solidFill>
                  <a:srgbClr val="94A3B8"/>
                </a:solidFill>
                <a:latin typeface="Outfit"/>
              </a:rPr>
              <a:t>Allows municipalities to maximize tow-truck ROI. deploys squads to high-impact priority grids instead of blind random patrols.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IoT &amp; Smart City Sensors: </a:t>
            </a:r>
            <a:r>
              <a:rPr sz="1600">
                <a:solidFill>
                  <a:srgbClr val="94A3B8"/>
                </a:solidFill>
                <a:latin typeface="Outfit"/>
              </a:rPr>
              <a:t>Plan to integrate low-cost geomagnetic road sensors that report occupancy, automating violation logging without manual entry.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8FAFC"/>
                </a:solidFill>
                <a:latin typeface="Outfit"/>
              </a:rPr>
              <a:t>Edge-AI CCTV Camera Feeds: </a:t>
            </a:r>
            <a:r>
              <a:rPr sz="1600">
                <a:solidFill>
                  <a:srgbClr val="94A3B8"/>
                </a:solidFill>
                <a:latin typeface="Outfit"/>
              </a:rPr>
              <a:t>Roadmap to integrate virtual no-parking boxes on city CCTV cameras, running YOLOv8 model for real-time automated vehicle 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